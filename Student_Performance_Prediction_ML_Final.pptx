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58" r:id="rId4"/>
    <p:sldId id="259" r:id="rId5"/>
    <p:sldId id="26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CA277-8A75-4335-9BC4-7013AC58B65A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262CF-B701-4D97-9B8E-1374347C72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00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Left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C3F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228600" y="0"/>
            <a:ext cx="8915400" cy="45720"/>
          </a:xfrm>
          <a:prstGeom prst="rect">
            <a:avLst/>
          </a:prstGeom>
          <a:solidFill>
            <a:srgbClr val="4A7C3F"/>
          </a:solidFill>
          <a:ln>
            <a:noFill/>
          </a:ln>
        </p:spPr>
      </p:sp>
      <p:sp>
        <p:nvSpPr>
          <p:cNvPr id="4" name="BottomBar"/>
          <p:cNvSpPr/>
          <p:nvPr/>
        </p:nvSpPr>
        <p:spPr>
          <a:xfrm>
            <a:off x="228600" y="5097780"/>
            <a:ext cx="8915400" cy="45720"/>
          </a:xfrm>
          <a:prstGeom prst="rect">
            <a:avLst/>
          </a:prstGeom>
          <a:solidFill>
            <a:srgbClr val="4A7C3F"/>
          </a:solidFill>
          <a:ln>
            <a:noFill/>
          </a:ln>
        </p:spPr>
      </p:sp>
      <p:sp>
        <p:nvSpPr>
          <p:cNvPr id="5" name="RightAccent"/>
          <p:cNvSpPr/>
          <p:nvPr/>
        </p:nvSpPr>
        <p:spPr>
          <a:xfrm>
            <a:off x="7924800" y="-15059"/>
            <a:ext cx="1524000" cy="2743200"/>
          </a:xfrm>
          <a:prstGeom prst="rtTriangle">
            <a:avLst/>
          </a:prstGeom>
          <a:solidFill>
            <a:srgbClr val="E8F5E4">
              <a:alpha val="80000"/>
            </a:srgbClr>
          </a:solidFill>
          <a:ln>
            <a:noFill/>
          </a:ln>
        </p:spPr>
      </p:sp>
      <p:sp>
        <p:nvSpPr>
          <p:cNvPr id="6" name="DissertationLabel"/>
          <p:cNvSpPr/>
          <p:nvPr/>
        </p:nvSpPr>
        <p:spPr>
          <a:xfrm>
            <a:off x="914400" y="91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Dissertation Stage I</a:t>
            </a:r>
          </a:p>
        </p:txBody>
      </p:sp>
      <p:sp>
        <p:nvSpPr>
          <p:cNvPr id="7" name="UnivName"/>
          <p:cNvSpPr/>
          <p:nvPr/>
        </p:nvSpPr>
        <p:spPr>
          <a:xfrm>
            <a:off x="616856" y="1499989"/>
            <a:ext cx="8069943" cy="206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b="1" dirty="0">
              <a:solidFill>
                <a:srgbClr val="333333"/>
              </a:solidFill>
              <a:latin typeface="Calibri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</a:rPr>
              <a:t>AJEENKYA DY PATIL SCHOOL OF ENGINEERING, Pune</a:t>
            </a:r>
          </a:p>
        </p:txBody>
      </p:sp>
      <p:sp>
        <p:nvSpPr>
          <p:cNvPr id="8" name="Dept"/>
          <p:cNvSpPr/>
          <p:nvPr/>
        </p:nvSpPr>
        <p:spPr>
          <a:xfrm>
            <a:off x="54429" y="1584929"/>
            <a:ext cx="9016997" cy="607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b="1" dirty="0">
              <a:solidFill>
                <a:srgbClr val="333333"/>
              </a:solidFill>
              <a:latin typeface="Calibri" pitchFamily="34" charset="0"/>
            </a:endParaRPr>
          </a:p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</a:rPr>
              <a:t>Department of Computer Engineering</a:t>
            </a:r>
          </a:p>
        </p:txBody>
      </p:sp>
      <p:sp>
        <p:nvSpPr>
          <p:cNvPr id="10" name="SeminarLabel"/>
          <p:cNvSpPr/>
          <p:nvPr/>
        </p:nvSpPr>
        <p:spPr>
          <a:xfrm>
            <a:off x="457200" y="1316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b="0" i="1" dirty="0">
              <a:solidFill>
                <a:srgbClr val="666666"/>
              </a:solidFill>
              <a:latin typeface="Calibri" pitchFamily="34" charset="0"/>
            </a:endParaRPr>
          </a:p>
        </p:txBody>
      </p:sp>
      <p:sp>
        <p:nvSpPr>
          <p:cNvPr id="11" name="SeminarTopic"/>
          <p:cNvSpPr/>
          <p:nvPr/>
        </p:nvSpPr>
        <p:spPr>
          <a:xfrm>
            <a:off x="72574" y="2004819"/>
            <a:ext cx="8998853" cy="977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Performance</a:t>
            </a:r>
            <a:endParaRPr lang="en-US" sz="2800" dirty="0"/>
          </a:p>
        </p:txBody>
      </p:sp>
      <p:sp>
        <p:nvSpPr>
          <p:cNvPr id="13" name="ProjectLabel"/>
          <p:cNvSpPr/>
          <p:nvPr/>
        </p:nvSpPr>
        <p:spPr>
          <a:xfrm>
            <a:off x="457200" y="2878777"/>
            <a:ext cx="8229600" cy="27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b="0" i="1" dirty="0">
              <a:solidFill>
                <a:srgbClr val="666666"/>
              </a:solidFill>
              <a:latin typeface="Calibri" pitchFamily="34" charset="0"/>
            </a:endParaRPr>
          </a:p>
        </p:txBody>
      </p:sp>
      <p:sp>
        <p:nvSpPr>
          <p:cNvPr id="14" name="MainTitle"/>
          <p:cNvSpPr/>
          <p:nvPr/>
        </p:nvSpPr>
        <p:spPr>
          <a:xfrm>
            <a:off x="348343" y="2791886"/>
            <a:ext cx="8505371" cy="509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7C3F"/>
                </a:solidFill>
                <a:latin typeface="Calibri" pitchFamily="34" charset="0"/>
              </a:rPr>
              <a:t>Prediction using Machine Learning</a:t>
            </a:r>
          </a:p>
        </p:txBody>
      </p:sp>
      <p:sp>
        <p:nvSpPr>
          <p:cNvPr id="15" name="DivLine3"/>
          <p:cNvSpPr/>
          <p:nvPr/>
        </p:nvSpPr>
        <p:spPr>
          <a:xfrm>
            <a:off x="783770" y="3386728"/>
            <a:ext cx="7743373" cy="45720"/>
          </a:xfrm>
          <a:prstGeom prst="rect">
            <a:avLst/>
          </a:prstGeom>
          <a:solidFill>
            <a:srgbClr val="4A7C3F"/>
          </a:solidFill>
          <a:ln>
            <a:noFill/>
          </a:ln>
        </p:spPr>
        <p:txBody>
          <a:bodyPr/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16" name="PresentedByLabel"/>
          <p:cNvSpPr/>
          <p:nvPr/>
        </p:nvSpPr>
        <p:spPr>
          <a:xfrm>
            <a:off x="899884" y="3072959"/>
            <a:ext cx="3672116" cy="1045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b="1" dirty="0">
              <a:solidFill>
                <a:srgbClr val="333333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Presented by:</a:t>
            </a:r>
          </a:p>
        </p:txBody>
      </p:sp>
      <p:sp>
        <p:nvSpPr>
          <p:cNvPr id="17" name="StudentName"/>
          <p:cNvSpPr/>
          <p:nvPr/>
        </p:nvSpPr>
        <p:spPr>
          <a:xfrm>
            <a:off x="899884" y="3301560"/>
            <a:ext cx="3672116" cy="1199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dirty="0">
              <a:solidFill>
                <a:srgbClr val="444444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</a:rPr>
              <a:t>Pooja V. Mali </a:t>
            </a:r>
            <a:endParaRPr lang="en-US" sz="1600" b="0" dirty="0">
              <a:solidFill>
                <a:srgbClr val="444444"/>
              </a:solidFill>
              <a:latin typeface="Calibri" pitchFamily="34" charset="0"/>
            </a:endParaRPr>
          </a:p>
        </p:txBody>
      </p:sp>
      <p:sp>
        <p:nvSpPr>
          <p:cNvPr id="18" name="GuidedByLabel"/>
          <p:cNvSpPr/>
          <p:nvPr/>
        </p:nvSpPr>
        <p:spPr>
          <a:xfrm>
            <a:off x="4833257" y="3072959"/>
            <a:ext cx="3761743" cy="987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b="1" dirty="0">
              <a:solidFill>
                <a:srgbClr val="333333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</a:rPr>
              <a:t>            Guided by:</a:t>
            </a:r>
          </a:p>
        </p:txBody>
      </p:sp>
      <p:sp>
        <p:nvSpPr>
          <p:cNvPr id="19" name="GuideName"/>
          <p:cNvSpPr/>
          <p:nvPr/>
        </p:nvSpPr>
        <p:spPr>
          <a:xfrm>
            <a:off x="5319486" y="3301560"/>
            <a:ext cx="3275514" cy="1137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600" b="0" dirty="0">
              <a:solidFill>
                <a:srgbClr val="444444"/>
              </a:solidFill>
              <a:latin typeface="Calibri" pitchFamily="34" charset="0"/>
            </a:endParaRPr>
          </a:p>
          <a:p>
            <a:pPr marL="0" indent="0" algn="l">
              <a:buNone/>
            </a:pPr>
            <a:r>
              <a:rPr lang="en-US" sz="1600" b="0" dirty="0">
                <a:solidFill>
                  <a:srgbClr val="444444"/>
                </a:solidFill>
                <a:latin typeface="Calibri" pitchFamily="34" charset="0"/>
              </a:rPr>
              <a:t>Prof. Anita Mahajan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A56A25-CF66-49D1-BE3E-62C117B4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183" y="369351"/>
            <a:ext cx="2422246" cy="1121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SYNOPSIS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863193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64008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11338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188720"/>
            <a:ext cx="32004" cy="49377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1152144"/>
            <a:ext cx="660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at-risk students enables timely educator intervention. Traditional grading is reactive; ML makes prediction proactive.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1874520"/>
            <a:ext cx="8631936" cy="713232"/>
          </a:xfrm>
          <a:prstGeom prst="rect">
            <a:avLst/>
          </a:prstGeom>
          <a:solidFill>
            <a:srgbClr val="DBEAFE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874520"/>
            <a:ext cx="64008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92938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57400" y="1984248"/>
            <a:ext cx="32004" cy="49377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4" name="Text 12"/>
          <p:cNvSpPr/>
          <p:nvPr/>
        </p:nvSpPr>
        <p:spPr>
          <a:xfrm>
            <a:off x="2176272" y="1947672"/>
            <a:ext cx="660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system using student demographic, behavioral &amp; academic data to classify academic outcomes with high accuracy.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2670048"/>
            <a:ext cx="863193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670048"/>
            <a:ext cx="64008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7249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Techniques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57400" y="2779776"/>
            <a:ext cx="32004" cy="49377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9" name="Text 17"/>
          <p:cNvSpPr/>
          <p:nvPr/>
        </p:nvSpPr>
        <p:spPr>
          <a:xfrm>
            <a:off x="2176272" y="2743200"/>
            <a:ext cx="660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Random Forest, Gradient Boosting, SVM, and Logistic Regression compared via cross-validation and performance metrics.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3465576"/>
            <a:ext cx="8631936" cy="713232"/>
          </a:xfrm>
          <a:prstGeom prst="rect">
            <a:avLst/>
          </a:prstGeom>
          <a:solidFill>
            <a:srgbClr val="DBEAFE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465576"/>
            <a:ext cx="64008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52044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3575304"/>
            <a:ext cx="32004" cy="49377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4" name="Text 22"/>
          <p:cNvSpPr/>
          <p:nvPr/>
        </p:nvSpPr>
        <p:spPr>
          <a:xfrm>
            <a:off x="2176272" y="3538728"/>
            <a:ext cx="660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Dataset — 649 records, 33 features covering grades, family background, social behavior, and study habits.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4261104"/>
            <a:ext cx="8631936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261104"/>
            <a:ext cx="64008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431596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Outcome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57400" y="4370832"/>
            <a:ext cx="32004" cy="49377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9" name="Text 27"/>
          <p:cNvSpPr/>
          <p:nvPr/>
        </p:nvSpPr>
        <p:spPr>
          <a:xfrm>
            <a:off x="2176272" y="4334256"/>
            <a:ext cx="6601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~92% accuracy. Top predictors: past grades (G1, G2), study time, absences, and parental education level.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Student Performance Prediction?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99616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failure is a major challenge in education systems worldwide.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analyses historical student data to forecast outcomes before failure occurs.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identify at-risk students using grades, attendance, habits &amp; background.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prediction empowers educators to provide timely, targeted interventions.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Data Mining (EDM) combines pedagogy with AI-driven insights.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078992"/>
            <a:ext cx="1600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30759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577840" y="197510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globally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of failure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33488" y="1078992"/>
            <a:ext cx="1600200" cy="1600200"/>
          </a:xfrm>
          <a:prstGeom prst="rect">
            <a:avLst/>
          </a:prstGeom>
          <a:solidFill>
            <a:srgbClr val="4A7C3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71657" y="1197864"/>
            <a:ext cx="1807029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33488" y="197510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ML accuracy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2862072"/>
            <a:ext cx="1600200" cy="1600200"/>
          </a:xfrm>
          <a:prstGeom prst="rect">
            <a:avLst/>
          </a:prstGeom>
          <a:solidFill>
            <a:srgbClr val="4A7C3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31542" y="3090672"/>
            <a:ext cx="154649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577840" y="375818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33488" y="2862072"/>
            <a:ext cx="1600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33488" y="3090672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333488" y="375818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UCI dataset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8631936" cy="384048"/>
          </a:xfrm>
          <a:prstGeom prst="rect">
            <a:avLst/>
          </a:prstGeom>
          <a:solidFill>
            <a:srgbClr val="4A7C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292608" y="106984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06984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493008" y="10698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Used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144768" y="10698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" y="1463040"/>
            <a:ext cx="86319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5087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Cortez &amp; Silva (2008)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93008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Random Forest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44768" y="1508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grades (G1,G2) are the strongest predictors of final outcome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167128"/>
            <a:ext cx="8631936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212848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22128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Amrieh et al. (2016)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93008" y="22128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ANN, Naive Bayes, Decision Tree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44768" y="22128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achieved 79.6%; behavioral features significantly impact accuracy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86319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916936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9808" y="29169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Kabakchieva (2013)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91693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C4.5, KNN, Neural Networks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44768" y="291693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models improve prediction performance by ~8%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3575304"/>
            <a:ext cx="8631936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621024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36210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 &amp; Pal (2013)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93008" y="36210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ID3, Back-Propagation NN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44768" y="362102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internal marks are key influencers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6032" y="4279392"/>
            <a:ext cx="86319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325112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" y="43251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Kotsiantis et 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93008" y="43251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Logistic Regression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4768" y="43251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outperforms Logistic Regression on imbalanced datasets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6D3678-BAB8-406D-AECF-CB1B66605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CFC4D-9548-4124-8E34-F13B151F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70"/>
            <a:ext cx="9144000" cy="51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0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8631936" cy="1371600"/>
          </a:xfrm>
          <a:prstGeom prst="rect">
            <a:avLst/>
          </a:prstGeom>
          <a:solidFill>
            <a:srgbClr val="DBEAFE"/>
          </a:solidFill>
          <a:ln w="2286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>
              <a:solidFill>
                <a:schemeClr val="accent6">
                  <a:lumMod val="75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7" y="1069848"/>
            <a:ext cx="877882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r>
              <a:rPr lang="en-US" sz="13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 STATEMENT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8321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machine learning system that predicts a student's final academic performance using early-semester data — demographic details, family background, study habits, and prior grades — enabling institutions to identify at-risk students and intervene proactively.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2523744"/>
            <a:ext cx="863193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25511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OBJECTIVES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926080"/>
            <a:ext cx="8631936" cy="4480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926080"/>
            <a:ext cx="64008" cy="44805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2926080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7818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preprocess the UCI Student Performance dataset for ML readiness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3438144"/>
            <a:ext cx="8631936" cy="44805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3438144"/>
            <a:ext cx="64008" cy="44805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438144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38144"/>
            <a:ext cx="7818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supervised ML algorithms (RF, DT, SVM, LR, GBM) using cross-validation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3950208"/>
            <a:ext cx="8631936" cy="44805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950208"/>
            <a:ext cx="64008" cy="44805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3950208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950208"/>
            <a:ext cx="7818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predictive features through feature importance and correlation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4462272"/>
            <a:ext cx="8631936" cy="44805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4462272"/>
            <a:ext cx="64008" cy="44805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4462272"/>
            <a:ext cx="5029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462272"/>
            <a:ext cx="7818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prediction interface for real-time student academic outcome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69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6032" y="1618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1042416"/>
            <a:ext cx="2011680" cy="1005840"/>
          </a:xfrm>
          <a:prstGeom prst="rect">
            <a:avLst/>
          </a:prstGeom>
          <a:solidFill>
            <a:srgbClr val="4A7C3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1069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432304" y="1618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1042416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069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08576" y="1618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84848" y="1042416"/>
            <a:ext cx="2011680" cy="1005840"/>
          </a:xfrm>
          <a:prstGeom prst="rect">
            <a:avLst/>
          </a:prstGeom>
          <a:solidFill>
            <a:srgbClr val="4A7C3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1069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84848" y="1618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67128"/>
            <a:ext cx="4206240" cy="347472"/>
          </a:xfrm>
          <a:prstGeom prst="rect">
            <a:avLst/>
          </a:prstGeom>
          <a:solidFill>
            <a:srgbClr val="4A7C3F"/>
          </a:solidFill>
          <a:ln/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2221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2578608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Address (Urban/Rural)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size, Parents cohabitation status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0016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2176272"/>
            <a:ext cx="4206240" cy="34747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9744" y="2221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</a:t>
            </a: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9744" y="2578608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&amp; Second period grades (G1, G2)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per week, Number of failures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59359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59359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63931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760" y="3995928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&amp; Father education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type, Internet access at home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0016" y="359359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359359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363931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09744" y="3995928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time, Going out frequency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status, Number of absences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8631936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6858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078992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1521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07008"/>
            <a:ext cx="36576" cy="4572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170432"/>
            <a:ext cx="5285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Student Performance dataset — Math &amp; Portuguese subjects, 649 records, 33 attributes.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874520"/>
            <a:ext cx="8631936" cy="713232"/>
          </a:xfrm>
          <a:prstGeom prst="rect">
            <a:avLst/>
          </a:prstGeom>
          <a:solidFill>
            <a:srgbClr val="DBEAFE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874520"/>
            <a:ext cx="685800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874520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4128" y="19476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002536"/>
            <a:ext cx="36576" cy="4572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1965960"/>
            <a:ext cx="5285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categorical variables, normalize numerical features using MinMaxScaler.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670048"/>
            <a:ext cx="8631936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670048"/>
            <a:ext cx="6858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2670048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27432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798064"/>
            <a:ext cx="36576" cy="4572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2761488"/>
            <a:ext cx="5285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heatmap, feature importance ranking, remove low-variance and redundant attributes.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" y="3465576"/>
            <a:ext cx="8631936" cy="713232"/>
          </a:xfrm>
          <a:prstGeom prst="rect">
            <a:avLst/>
          </a:prstGeom>
          <a:solidFill>
            <a:srgbClr val="DBEAFE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465576"/>
            <a:ext cx="685800" cy="713232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" y="3465576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Georgia" pitchFamily="34" charset="0"/>
              </a:rPr>
              <a:t>04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4128" y="35387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593592"/>
            <a:ext cx="36576" cy="4572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3557016"/>
            <a:ext cx="5285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DT, RF, GBM, SVM, LR. Use 5-fold cross-validation for reliable, unbiased evaluation.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" y="4261104"/>
            <a:ext cx="8631936" cy="71323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282875"/>
            <a:ext cx="6858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" y="4261104"/>
            <a:ext cx="685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7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4128" y="43342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Deploy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37560" y="4389120"/>
            <a:ext cx="36576" cy="4572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4352544"/>
            <a:ext cx="5285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Accuracy, Precision, Recall, F1-Score. Deploy best model to a web prediction interface.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 COMPARED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8631936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06984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0698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10698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0698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32120" y="10698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10698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463040"/>
            <a:ext cx="8631936" cy="64008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463040"/>
            <a:ext cx="64008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1508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5087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46120" y="15087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15087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150876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508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— recommended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167128"/>
            <a:ext cx="8631936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2128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221284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221284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221284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2212848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2128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Strong; slower to train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871216"/>
            <a:ext cx="86319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91693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2916936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2916936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0" y="2916936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916936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91693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prone to overfit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3575304"/>
            <a:ext cx="8631936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6210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03120" y="3621024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46120" y="3621024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3621024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32120" y="3621024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362102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with scaled features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4279392"/>
            <a:ext cx="86319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432511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03120" y="43251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46120" y="43251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89120" y="43251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79.3%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32120" y="43251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43251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Baseline; fast training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FEATURE IMPORTANCE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0" y="1069848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02F86-25E0-4D08-A8DA-9B45D6937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25296"/>
            <a:ext cx="4572396" cy="384081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CBCD8F3-76B1-44FA-B419-0AD66BA50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481" y="968974"/>
            <a:ext cx="3865199" cy="37920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384048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9418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92608" y="1444752"/>
            <a:ext cx="237744" cy="237744"/>
          </a:xfrm>
          <a:prstGeom prst="ellipse">
            <a:avLst/>
          </a:prstGeom>
          <a:solidFill>
            <a:srgbClr val="4A7C3F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44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135331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all models with 92.1% accuracy on the UCI dataset.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2608" y="1920240"/>
            <a:ext cx="237744" cy="237744"/>
          </a:xfrm>
          <a:prstGeom prst="ellipse">
            <a:avLst/>
          </a:prstGeom>
          <a:solidFill>
            <a:srgbClr val="4A7C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2608" y="19202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and G2 (prior grades) are strongest predictors; absences and study time follow.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" y="2395728"/>
            <a:ext cx="237744" cy="237744"/>
          </a:xfrm>
          <a:prstGeom prst="ellipse">
            <a:avLst/>
          </a:prstGeom>
          <a:solidFill>
            <a:srgbClr val="4A7C3F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" y="23957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30428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SMOTE-based oversampling effectively addressed class imbalance in the dataset.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2608" y="2871216"/>
            <a:ext cx="237744" cy="237744"/>
          </a:xfrm>
          <a:prstGeom prst="ellipse">
            <a:avLst/>
          </a:prstGeom>
          <a:solidFill>
            <a:srgbClr val="4A7C3F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28712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277977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enables real-time academic outcome prediction via web interface.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6032" y="3310128"/>
            <a:ext cx="8631936" cy="384048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33756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92608" y="3822192"/>
            <a:ext cx="237744" cy="23774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38221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→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LMS data (Moodle/Canvas) for live continuous prediction.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" y="4242816"/>
            <a:ext cx="237744" cy="23774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4242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→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4169664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deep learning (LSTM) for time-series grade progression modelling.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2608" y="4663440"/>
            <a:ext cx="237744" cy="23774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" y="46634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→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459028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 app dashboard for students and faculty with personalized alerts.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8631936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78992"/>
            <a:ext cx="64008" cy="58521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1115568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Cortez, P. &amp; Silva, A. (2008). Using Data Mining to Predict Secondary School Student Performance. EUROSIS.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737360"/>
            <a:ext cx="8631936" cy="58521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737360"/>
            <a:ext cx="64008" cy="58521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773936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Amrieh, E. A., Hamtini, T., &amp; Aljarah, I. (2016). Mining Educational Data to Predict Student Academic Performance using Ensemble Methods. IJDKP.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2395728"/>
            <a:ext cx="8631936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2395728"/>
            <a:ext cx="64008" cy="58521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24323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Kabakchieva, D. (2013). Predicting Student Performance by Using Data Mining Methods for Classification. Cybernetics and Information Technologies.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3054096"/>
            <a:ext cx="8631936" cy="58521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3054096"/>
            <a:ext cx="64008" cy="58521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309067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Pal, A. K. &amp; Pal, S. (2013). Analysis and Mining of Educational Data for Predicting the Performance of Students. IJECCE.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712464"/>
            <a:ext cx="8631936" cy="5852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712464"/>
            <a:ext cx="64008" cy="58521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74904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Kotsiantis, S. B. et al. Educational Data Mining: A case study for predicting dropout-prone students. IJKESDP.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4370832"/>
            <a:ext cx="8631936" cy="58521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4370832"/>
            <a:ext cx="64008" cy="58521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4407408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UCI ML Repository. Student Performance Dataset. https://archive.ics.uci.edu/ml/datasets/student+performance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21214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A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Discussions Welcome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788920"/>
            <a:ext cx="4572000" cy="36576"/>
          </a:xfrm>
          <a:prstGeom prst="rect">
            <a:avLst/>
          </a:prstGeom>
          <a:solidFill>
            <a:srgbClr val="4A7C3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9077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 using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  |  Educational Data Mining  |  AI &amp; ML</a:t>
            </a:r>
            <a:endParaRPr lang="en-US" sz="1100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1050</Words>
  <Application>Microsoft Office PowerPoint</Application>
  <PresentationFormat>On-screen Show (16:9)</PresentationFormat>
  <Paragraphs>197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Prediction using ML</dc:title>
  <dc:subject>PptxGenJS Presentation</dc:subject>
  <dc:creator>PptxGenJS</dc:creator>
  <cp:lastModifiedBy>Admin</cp:lastModifiedBy>
  <cp:revision>10</cp:revision>
  <dcterms:created xsi:type="dcterms:W3CDTF">2026-05-04T09:08:02Z</dcterms:created>
  <dcterms:modified xsi:type="dcterms:W3CDTF">2026-05-04T10:57:44Z</dcterms:modified>
</cp:coreProperties>
</file>